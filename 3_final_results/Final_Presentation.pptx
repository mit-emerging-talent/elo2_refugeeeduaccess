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37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97" autoAdjust="0"/>
  </p:normalViewPr>
  <p:slideViewPr>
    <p:cSldViewPr snapToGrid="0">
      <p:cViewPr varScale="1">
        <p:scale>
          <a:sx n="69" d="100"/>
          <a:sy n="69" d="100"/>
        </p:scale>
        <p:origin x="332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88EAE-AAE8-98C8-A4F5-597EFAA9D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C887E-E178-98FA-3EE1-3E39E3007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CFA33-9FB4-338D-D5AA-D7264D9F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2D48-66B2-4C3E-9E2E-35DDF6912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4B9B-CB88-F5E6-D090-54E9E3D98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E7378-31D8-735C-9BEE-9FFCBA424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2738-A786-4BE6-A80C-548D0588C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5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3284-5B3B-9C90-4D99-C845DDDF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D3CCA-182B-7A9B-DEA3-2407E52DA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5FC8-676A-4314-9FC8-622F494F9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2D48-66B2-4C3E-9E2E-35DDF6912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69F63-2391-E467-D788-211D16F91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41F3E-EAF9-4B4D-4642-95B58950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2738-A786-4BE6-A80C-548D0588C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80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9BF9C-4C34-DF03-020E-3754A3D10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03A47-7723-8A25-4BB8-F81222F81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90C07-BF45-5EC1-E3DD-05423749F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2D48-66B2-4C3E-9E2E-35DDF6912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F0D32-D3A7-E804-C2E6-132DD5E0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9CF90-3DED-E59D-7C3D-FE8D20EB4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2738-A786-4BE6-A80C-548D0588C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44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B6A2E-FFF9-5632-5D50-F0DAD3EE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BB686-F176-D09F-28E6-5E9DFA950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EBE58-814E-BBE0-902B-10EF784E0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1E28E-A4B7-8773-D190-623845B2C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2D48-66B2-4C3E-9E2E-35DDF6912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CB233-88A9-03CB-3E9F-BF3EA6164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87A06-08A1-C11C-32AB-88EB5275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2738-A786-4BE6-A80C-548D0588C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12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34D20-4E44-2D3D-672E-59A3250CE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6A04A-663C-8222-B808-373A8ADA8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D6E3A-B8E9-A4D2-7472-3C96624C5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E95AF-EDCD-B39E-0595-D34598EE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4B62C-B0F7-05CD-9FF1-B344311C2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0DEFA5-5A70-F393-811B-4E15FCC5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2D48-66B2-4C3E-9E2E-35DDF6912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9FECF-06A5-D21C-60BD-6652B171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AD9075-FBDB-576D-6961-75BBD578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2738-A786-4BE6-A80C-548D0588C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2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D37F-E08E-AB43-1468-1307FB905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A28BA8-7C19-87BF-D3FA-93213DCD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2D48-66B2-4C3E-9E2E-35DDF6912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00F67-209A-60A7-A793-90B1050DD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81C8C-0B17-4760-26D4-03C5EEBF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2738-A786-4BE6-A80C-548D0588C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48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5DC21-5690-8E06-A648-26B48BBB4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2D48-66B2-4C3E-9E2E-35DDF6912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D9E461-2C3A-0B60-F702-68F981851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9773D-90DC-B7EE-C90C-80DA0A776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2738-A786-4BE6-A80C-548D0588C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1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3F8E-DDF0-E837-D8CB-39EC31CC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D139-BA80-3F62-F63F-501659FA7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31C35-235D-F792-0129-3A98C8820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BA2DE-E33C-1047-7166-4435CFDDA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2D48-66B2-4C3E-9E2E-35DDF6912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DAF99-9EF0-3455-04A0-34D989CCC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84FF9-7AFA-E74D-565F-5BAC24F34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2738-A786-4BE6-A80C-548D0588C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81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E152-976E-B2CC-1050-45B52976A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56EFB-EBE9-F6A2-A6B8-A9DDCE9CA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82D80-1BF3-1BB6-4189-D3EA55CE1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5CA96-D9B4-7567-6907-A70FB783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2D48-66B2-4C3E-9E2E-35DDF6912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4AC92-67A5-B248-853C-32825DE1F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E4554-8B62-61BE-5CE7-3830BFE3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2738-A786-4BE6-A80C-548D0588C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57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7EF5-24C3-6812-FC76-4CC80DE3D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DB9FA7-DABB-6347-BD01-39151B6E74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52C6D-FE6E-387F-45ED-58C59A577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2D48-66B2-4C3E-9E2E-35DDF6912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83B12-3A44-F7F6-E769-6849CA3E1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D2AA9-23AD-3784-F5A2-E392CDAD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2738-A786-4BE6-A80C-548D0588C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5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77470B-B8F1-DFFA-2DBC-502F25ABB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5BA26-8112-0235-7EC9-6009777BE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0BD39-7680-2D37-FE7A-81C82451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2D48-66B2-4C3E-9E2E-35DDF6912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A980F-283C-3D29-CA56-BEE0A4E52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21F96-B3AE-7693-8DEA-5FC833E3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2738-A786-4BE6-A80C-548D0588C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6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3773FD-B9DC-2734-DB97-073658358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B3A48-94C2-7348-6812-BA10202B0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5D9A5-7FC3-408D-A64A-E471378E3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D2D48-66B2-4C3E-9E2E-35DDF6912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3FAA3-0618-944D-B672-834D91245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2DC6A-2154-A909-645B-62AC7F664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E2738-A786-4BE6-A80C-548D0588C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0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09CCCDB-1C1D-45CD-D2C6-0EE5BCBFD897}"/>
              </a:ext>
            </a:extLst>
          </p:cNvPr>
          <p:cNvGrpSpPr/>
          <p:nvPr/>
        </p:nvGrpSpPr>
        <p:grpSpPr>
          <a:xfrm>
            <a:off x="-1" y="5575025"/>
            <a:ext cx="12192001" cy="1282975"/>
            <a:chOff x="-1" y="5575025"/>
            <a:chExt cx="12192001" cy="128297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E9C5108-9789-C040-9771-99B7EB935B6C}"/>
                </a:ext>
              </a:extLst>
            </p:cNvPr>
            <p:cNvSpPr/>
            <p:nvPr/>
          </p:nvSpPr>
          <p:spPr>
            <a:xfrm>
              <a:off x="-1" y="5575025"/>
              <a:ext cx="12192001" cy="1282975"/>
            </a:xfrm>
            <a:prstGeom prst="rect">
              <a:avLst/>
            </a:prstGeom>
            <a:solidFill>
              <a:srgbClr val="EA3732"/>
            </a:solidFill>
            <a:effectLst>
              <a:outerShdw blurRad="304800" dist="203200" dir="14640000" sx="125000" sy="125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23C5CD-9747-158B-D809-6D85CBF18D5C}"/>
                </a:ext>
              </a:extLst>
            </p:cNvPr>
            <p:cNvSpPr txBox="1"/>
            <p:nvPr/>
          </p:nvSpPr>
          <p:spPr>
            <a:xfrm>
              <a:off x="3500705" y="5924125"/>
              <a:ext cx="4350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Emerging Talent Team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34586D0-6CB3-6289-D976-CAD81948F082}"/>
              </a:ext>
            </a:extLst>
          </p:cNvPr>
          <p:cNvSpPr txBox="1"/>
          <p:nvPr/>
        </p:nvSpPr>
        <p:spPr>
          <a:xfrm>
            <a:off x="2535988" y="2844224"/>
            <a:ext cx="89498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ELO2_RefugeeEdu_AI / Graduation Project Review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7487CA-CDF9-A7C3-3883-695951B91B76}"/>
              </a:ext>
            </a:extLst>
          </p:cNvPr>
          <p:cNvSpPr txBox="1"/>
          <p:nvPr/>
        </p:nvSpPr>
        <p:spPr>
          <a:xfrm>
            <a:off x="4394003" y="4323257"/>
            <a:ext cx="420980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Anass Ziadah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Mohamad Naim Ziadah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BB6FDB-EF83-E857-3282-7A808CD4C99C}"/>
              </a:ext>
            </a:extLst>
          </p:cNvPr>
          <p:cNvGrpSpPr/>
          <p:nvPr/>
        </p:nvGrpSpPr>
        <p:grpSpPr>
          <a:xfrm>
            <a:off x="-1" y="0"/>
            <a:ext cx="3283528" cy="6858000"/>
            <a:chOff x="-1" y="0"/>
            <a:chExt cx="3283528" cy="6858000"/>
          </a:xfrm>
        </p:grpSpPr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95989B7D-E1E0-B2B2-A8A8-806D999CB94C}"/>
                </a:ext>
              </a:extLst>
            </p:cNvPr>
            <p:cNvSpPr/>
            <p:nvPr/>
          </p:nvSpPr>
          <p:spPr>
            <a:xfrm rot="5400000">
              <a:off x="-1787237" y="1787236"/>
              <a:ext cx="6858000" cy="3283528"/>
            </a:xfrm>
            <a:prstGeom prst="triangle">
              <a:avLst>
                <a:gd name="adj" fmla="val 100000"/>
              </a:avLst>
            </a:prstGeom>
            <a:solidFill>
              <a:srgbClr val="EA3732"/>
            </a:solidFill>
            <a:ln>
              <a:solidFill>
                <a:schemeClr val="accent1">
                  <a:shade val="15000"/>
                </a:schemeClr>
              </a:solidFill>
            </a:ln>
            <a:effectLst>
              <a:outerShdw blurRad="850900" dist="723900" dir="3840000" sx="117000" sy="117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C7BD4F9-1BFA-889C-CCF5-93FC60E1C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5476353"/>
              <a:ext cx="2592473" cy="1381647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AAD1871-CC5D-3355-A2A2-683B7EB82EA4}"/>
              </a:ext>
            </a:extLst>
          </p:cNvPr>
          <p:cNvSpPr txBox="1"/>
          <p:nvPr/>
        </p:nvSpPr>
        <p:spPr>
          <a:xfrm>
            <a:off x="416006" y="344255"/>
            <a:ext cx="12003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Bridging The Gap: Higher Education for Refugee youth </a:t>
            </a:r>
          </a:p>
        </p:txBody>
      </p:sp>
    </p:spTree>
    <p:extLst>
      <p:ext uri="{BB962C8B-B14F-4D97-AF65-F5344CB8AC3E}">
        <p14:creationId xmlns:p14="http://schemas.microsoft.com/office/powerpoint/2010/main" val="310038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4282-48EF-E450-C603-27F7532A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E601DBA-B180-229C-3B12-19D0C3CD1790}"/>
              </a:ext>
            </a:extLst>
          </p:cNvPr>
          <p:cNvGrpSpPr/>
          <p:nvPr/>
        </p:nvGrpSpPr>
        <p:grpSpPr>
          <a:xfrm>
            <a:off x="-1" y="5575025"/>
            <a:ext cx="12192001" cy="1282975"/>
            <a:chOff x="-1" y="5575025"/>
            <a:chExt cx="12192001" cy="128297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7248BCD-6ED9-69A9-9DB9-A061CE439060}"/>
                </a:ext>
              </a:extLst>
            </p:cNvPr>
            <p:cNvSpPr/>
            <p:nvPr/>
          </p:nvSpPr>
          <p:spPr>
            <a:xfrm>
              <a:off x="-1" y="5575025"/>
              <a:ext cx="12192001" cy="1282975"/>
            </a:xfrm>
            <a:prstGeom prst="rect">
              <a:avLst/>
            </a:prstGeom>
            <a:solidFill>
              <a:srgbClr val="EA3732"/>
            </a:solidFill>
            <a:effectLst>
              <a:outerShdw blurRad="304800" dist="203200" dir="14640000" sx="125000" sy="125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180B67-23E0-AB7D-FF88-551A4390A1B9}"/>
                </a:ext>
              </a:extLst>
            </p:cNvPr>
            <p:cNvSpPr txBox="1"/>
            <p:nvPr/>
          </p:nvSpPr>
          <p:spPr>
            <a:xfrm>
              <a:off x="3500705" y="5924125"/>
              <a:ext cx="4350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Emerging Talent Team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4CD7D38-DDC6-354B-E15A-62E9F88A2F81}"/>
              </a:ext>
            </a:extLst>
          </p:cNvPr>
          <p:cNvSpPr txBox="1"/>
          <p:nvPr/>
        </p:nvSpPr>
        <p:spPr>
          <a:xfrm>
            <a:off x="1641763" y="1063831"/>
            <a:ext cx="9266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37AFDD-4962-F014-5F42-66F94BAA0733}"/>
              </a:ext>
            </a:extLst>
          </p:cNvPr>
          <p:cNvSpPr txBox="1"/>
          <p:nvPr/>
        </p:nvSpPr>
        <p:spPr>
          <a:xfrm>
            <a:off x="2267217" y="2407837"/>
            <a:ext cx="8958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education remains inaccessible for refugees.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Refugee youth face barriers to education.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actionable gaps and opportunities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94F020D-CC73-9C97-218E-CC4B466CAAA5}"/>
              </a:ext>
            </a:extLst>
          </p:cNvPr>
          <p:cNvGrpSpPr/>
          <p:nvPr/>
        </p:nvGrpSpPr>
        <p:grpSpPr>
          <a:xfrm>
            <a:off x="-1" y="0"/>
            <a:ext cx="3283528" cy="6858000"/>
            <a:chOff x="-1" y="0"/>
            <a:chExt cx="3283528" cy="6858000"/>
          </a:xfrm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2CEC863-BCF3-9D8A-173F-8DE491D94555}"/>
                </a:ext>
              </a:extLst>
            </p:cNvPr>
            <p:cNvSpPr/>
            <p:nvPr/>
          </p:nvSpPr>
          <p:spPr>
            <a:xfrm rot="5400000">
              <a:off x="-1787237" y="1787236"/>
              <a:ext cx="6858000" cy="3283528"/>
            </a:xfrm>
            <a:prstGeom prst="triangle">
              <a:avLst>
                <a:gd name="adj" fmla="val 100000"/>
              </a:avLst>
            </a:prstGeom>
            <a:solidFill>
              <a:srgbClr val="EA3732"/>
            </a:solidFill>
            <a:ln>
              <a:solidFill>
                <a:schemeClr val="accent1">
                  <a:shade val="15000"/>
                </a:schemeClr>
              </a:solidFill>
            </a:ln>
            <a:effectLst>
              <a:outerShdw blurRad="850900" dist="723900" dir="3840000" sx="117000" sy="117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DF4A52B-91B9-C17D-8588-3BE8FD7BD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5476353"/>
              <a:ext cx="2592473" cy="13816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5352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E0C53-F7D5-6BEB-BDC1-0A8BC0CE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FA3A106-55E1-C4E3-B7BE-04D43400BB59}"/>
              </a:ext>
            </a:extLst>
          </p:cNvPr>
          <p:cNvGrpSpPr/>
          <p:nvPr/>
        </p:nvGrpSpPr>
        <p:grpSpPr>
          <a:xfrm>
            <a:off x="-1" y="5575025"/>
            <a:ext cx="12192001" cy="1282975"/>
            <a:chOff x="-1" y="5575025"/>
            <a:chExt cx="12192001" cy="128297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FACDB9-18E1-34CE-4786-AC2E01A8F6DA}"/>
                </a:ext>
              </a:extLst>
            </p:cNvPr>
            <p:cNvSpPr/>
            <p:nvPr/>
          </p:nvSpPr>
          <p:spPr>
            <a:xfrm>
              <a:off x="-1" y="5575025"/>
              <a:ext cx="12192001" cy="1282975"/>
            </a:xfrm>
            <a:prstGeom prst="rect">
              <a:avLst/>
            </a:prstGeom>
            <a:solidFill>
              <a:srgbClr val="EA3732"/>
            </a:solidFill>
            <a:effectLst>
              <a:outerShdw blurRad="304800" dist="203200" dir="14640000" sx="125000" sy="125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D2A2273-1638-E813-0213-57C052BDF59E}"/>
                </a:ext>
              </a:extLst>
            </p:cNvPr>
            <p:cNvSpPr txBox="1"/>
            <p:nvPr/>
          </p:nvSpPr>
          <p:spPr>
            <a:xfrm>
              <a:off x="3500705" y="5924125"/>
              <a:ext cx="4350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Emerging Talent Team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D57261B-11F8-3BED-30ED-577489839BBD}"/>
              </a:ext>
            </a:extLst>
          </p:cNvPr>
          <p:cNvSpPr txBox="1"/>
          <p:nvPr/>
        </p:nvSpPr>
        <p:spPr>
          <a:xfrm>
            <a:off x="1641763" y="1063831"/>
            <a:ext cx="9266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 to 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D71EF8-113A-02E4-7026-0FB9082B3B7A}"/>
              </a:ext>
            </a:extLst>
          </p:cNvPr>
          <p:cNvSpPr txBox="1"/>
          <p:nvPr/>
        </p:nvSpPr>
        <p:spPr>
          <a:xfrm>
            <a:off x="2692089" y="2408628"/>
            <a:ext cx="95708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students across different countries.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backgrounds, same education struggle.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know the barriers — cost, papers, language.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personal, not just research.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mission: open education for refugees.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1F2371-7CD9-7699-DBFF-AB083A68D61B}"/>
              </a:ext>
            </a:extLst>
          </p:cNvPr>
          <p:cNvGrpSpPr/>
          <p:nvPr/>
        </p:nvGrpSpPr>
        <p:grpSpPr>
          <a:xfrm>
            <a:off x="-1" y="0"/>
            <a:ext cx="3283528" cy="6858000"/>
            <a:chOff x="-1" y="0"/>
            <a:chExt cx="3283528" cy="6858000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5A5BF421-CC51-FA94-13EF-A4E4433A0EAC}"/>
                </a:ext>
              </a:extLst>
            </p:cNvPr>
            <p:cNvSpPr/>
            <p:nvPr/>
          </p:nvSpPr>
          <p:spPr>
            <a:xfrm rot="5400000">
              <a:off x="-1787237" y="1787236"/>
              <a:ext cx="6858000" cy="3283528"/>
            </a:xfrm>
            <a:prstGeom prst="triangle">
              <a:avLst>
                <a:gd name="adj" fmla="val 100000"/>
              </a:avLst>
            </a:prstGeom>
            <a:solidFill>
              <a:srgbClr val="EA3732"/>
            </a:solidFill>
            <a:ln>
              <a:solidFill>
                <a:schemeClr val="accent1">
                  <a:shade val="15000"/>
                </a:schemeClr>
              </a:solidFill>
            </a:ln>
            <a:effectLst>
              <a:outerShdw blurRad="850900" dist="723900" dir="3840000" sx="117000" sy="117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2EDA771-4985-C717-678E-2EAE47C0C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5476353"/>
              <a:ext cx="2592473" cy="13816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1022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BBE78-CAB1-671C-12AF-ED4DA4174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3B877B6-35F3-18A2-0D99-ADB5349C21F7}"/>
              </a:ext>
            </a:extLst>
          </p:cNvPr>
          <p:cNvGrpSpPr/>
          <p:nvPr/>
        </p:nvGrpSpPr>
        <p:grpSpPr>
          <a:xfrm>
            <a:off x="-1" y="5575025"/>
            <a:ext cx="12192001" cy="1282975"/>
            <a:chOff x="-1" y="5575025"/>
            <a:chExt cx="12192001" cy="128297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8C455C8-112D-A385-15FB-F5BA0AE3DDE7}"/>
                </a:ext>
              </a:extLst>
            </p:cNvPr>
            <p:cNvSpPr/>
            <p:nvPr/>
          </p:nvSpPr>
          <p:spPr>
            <a:xfrm>
              <a:off x="-1" y="5575025"/>
              <a:ext cx="12192001" cy="1282975"/>
            </a:xfrm>
            <a:prstGeom prst="rect">
              <a:avLst/>
            </a:prstGeom>
            <a:solidFill>
              <a:srgbClr val="EA3732"/>
            </a:solidFill>
            <a:effectLst>
              <a:outerShdw blurRad="304800" dist="203200" dir="14640000" sx="125000" sy="125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EE435B-180B-B278-7C54-107F3C5FCA1E}"/>
                </a:ext>
              </a:extLst>
            </p:cNvPr>
            <p:cNvSpPr txBox="1"/>
            <p:nvPr/>
          </p:nvSpPr>
          <p:spPr>
            <a:xfrm>
              <a:off x="3500705" y="5924125"/>
              <a:ext cx="4350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Emerging Talent Team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99A1443-E505-F7EC-2EFB-7938BED1F34D}"/>
              </a:ext>
            </a:extLst>
          </p:cNvPr>
          <p:cNvSpPr txBox="1"/>
          <p:nvPr/>
        </p:nvSpPr>
        <p:spPr>
          <a:xfrm>
            <a:off x="1641763" y="1063831"/>
            <a:ext cx="9266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A9E21-D9F6-B7D5-688C-08EEC62E92D2}"/>
              </a:ext>
            </a:extLst>
          </p:cNvPr>
          <p:cNvSpPr txBox="1"/>
          <p:nvPr/>
        </p:nvSpPr>
        <p:spPr>
          <a:xfrm>
            <a:off x="2724727" y="2835549"/>
            <a:ext cx="85670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data science and AI help overcome barriers in refugee access to higher education?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087FB6-CD8C-F177-1599-6B4FFAD79B73}"/>
              </a:ext>
            </a:extLst>
          </p:cNvPr>
          <p:cNvGrpSpPr/>
          <p:nvPr/>
        </p:nvGrpSpPr>
        <p:grpSpPr>
          <a:xfrm>
            <a:off x="-1" y="0"/>
            <a:ext cx="3283528" cy="6858000"/>
            <a:chOff x="-1" y="0"/>
            <a:chExt cx="3283528" cy="6858000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F351064E-1A99-B2BD-5E12-7FFD1194DC7C}"/>
                </a:ext>
              </a:extLst>
            </p:cNvPr>
            <p:cNvSpPr/>
            <p:nvPr/>
          </p:nvSpPr>
          <p:spPr>
            <a:xfrm rot="5400000">
              <a:off x="-1787237" y="1787236"/>
              <a:ext cx="6858000" cy="3283528"/>
            </a:xfrm>
            <a:prstGeom prst="triangle">
              <a:avLst>
                <a:gd name="adj" fmla="val 100000"/>
              </a:avLst>
            </a:prstGeom>
            <a:solidFill>
              <a:srgbClr val="EA3732"/>
            </a:solidFill>
            <a:ln>
              <a:solidFill>
                <a:schemeClr val="accent1">
                  <a:shade val="15000"/>
                </a:schemeClr>
              </a:solidFill>
            </a:ln>
            <a:effectLst>
              <a:outerShdw blurRad="850900" dist="723900" dir="3840000" sx="117000" sy="117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DB64927-DB15-95F8-045C-F98439430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5476353"/>
              <a:ext cx="2592473" cy="13816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553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127F-12B4-B17C-2CAF-70CA176F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4E0EE34-6DED-A8FE-21AF-EEBA53AC6E96}"/>
              </a:ext>
            </a:extLst>
          </p:cNvPr>
          <p:cNvGrpSpPr/>
          <p:nvPr/>
        </p:nvGrpSpPr>
        <p:grpSpPr>
          <a:xfrm>
            <a:off x="-1" y="5575025"/>
            <a:ext cx="12192001" cy="1282975"/>
            <a:chOff x="-1" y="5575025"/>
            <a:chExt cx="12192001" cy="128297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4CF95B-7DC9-8517-6056-73F0205ACA65}"/>
                </a:ext>
              </a:extLst>
            </p:cNvPr>
            <p:cNvSpPr/>
            <p:nvPr/>
          </p:nvSpPr>
          <p:spPr>
            <a:xfrm>
              <a:off x="-1" y="5575025"/>
              <a:ext cx="12192001" cy="1282975"/>
            </a:xfrm>
            <a:prstGeom prst="rect">
              <a:avLst/>
            </a:prstGeom>
            <a:solidFill>
              <a:srgbClr val="EA3732"/>
            </a:solidFill>
            <a:effectLst>
              <a:outerShdw blurRad="304800" dist="203200" dir="14640000" sx="125000" sy="125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428EE4-FF84-52CB-250A-A7EF9093FF93}"/>
                </a:ext>
              </a:extLst>
            </p:cNvPr>
            <p:cNvSpPr txBox="1"/>
            <p:nvPr/>
          </p:nvSpPr>
          <p:spPr>
            <a:xfrm>
              <a:off x="3500705" y="5924125"/>
              <a:ext cx="4350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Emerging Talent Team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628AA9E-AC90-5211-D94A-2F4EA50DB15F}"/>
              </a:ext>
            </a:extLst>
          </p:cNvPr>
          <p:cNvSpPr txBox="1"/>
          <p:nvPr/>
        </p:nvSpPr>
        <p:spPr>
          <a:xfrm>
            <a:off x="1631714" y="1033686"/>
            <a:ext cx="9266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from Research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C5D24-C8C1-1585-9335-38F03DE38205}"/>
              </a:ext>
            </a:extLst>
          </p:cNvPr>
          <p:cNvSpPr txBox="1"/>
          <p:nvPr/>
        </p:nvSpPr>
        <p:spPr>
          <a:xfrm>
            <a:off x="2438400" y="2471057"/>
            <a:ext cx="85670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access remains extremely limited for refugees.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Barriers are financial, legal, and informational.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exist but are poorly organized.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tools can help guide students to pathways.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FA8694-7ECD-C311-EE74-40F7E7186B5A}"/>
              </a:ext>
            </a:extLst>
          </p:cNvPr>
          <p:cNvGrpSpPr/>
          <p:nvPr/>
        </p:nvGrpSpPr>
        <p:grpSpPr>
          <a:xfrm>
            <a:off x="-1" y="0"/>
            <a:ext cx="3283528" cy="6858000"/>
            <a:chOff x="-1" y="0"/>
            <a:chExt cx="3283528" cy="6858000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B30138BB-2B19-F62A-CAE5-A67F73638ABD}"/>
                </a:ext>
              </a:extLst>
            </p:cNvPr>
            <p:cNvSpPr/>
            <p:nvPr/>
          </p:nvSpPr>
          <p:spPr>
            <a:xfrm rot="5400000">
              <a:off x="-1787237" y="1787236"/>
              <a:ext cx="6858000" cy="3283528"/>
            </a:xfrm>
            <a:prstGeom prst="triangle">
              <a:avLst>
                <a:gd name="adj" fmla="val 100000"/>
              </a:avLst>
            </a:prstGeom>
            <a:solidFill>
              <a:srgbClr val="EA3732"/>
            </a:solidFill>
            <a:ln>
              <a:solidFill>
                <a:schemeClr val="accent1">
                  <a:shade val="15000"/>
                </a:schemeClr>
              </a:solidFill>
            </a:ln>
            <a:effectLst>
              <a:outerShdw blurRad="850900" dist="723900" dir="3840000" sx="117000" sy="117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886298C-D02E-D51C-964D-436F242A0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5476353"/>
              <a:ext cx="2592473" cy="13816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8839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9C368-C1BD-6029-B5FC-8C225C79A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71EDF39-1E12-971A-E41D-D11C5BDDF4C4}"/>
              </a:ext>
            </a:extLst>
          </p:cNvPr>
          <p:cNvGrpSpPr/>
          <p:nvPr/>
        </p:nvGrpSpPr>
        <p:grpSpPr>
          <a:xfrm>
            <a:off x="-1" y="5575025"/>
            <a:ext cx="12192001" cy="1282975"/>
            <a:chOff x="-1" y="5575025"/>
            <a:chExt cx="12192001" cy="128297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38EF9E-0FB7-3105-5505-7520AA2C755F}"/>
                </a:ext>
              </a:extLst>
            </p:cNvPr>
            <p:cNvSpPr/>
            <p:nvPr/>
          </p:nvSpPr>
          <p:spPr>
            <a:xfrm>
              <a:off x="-1" y="5575025"/>
              <a:ext cx="12192001" cy="1282975"/>
            </a:xfrm>
            <a:prstGeom prst="rect">
              <a:avLst/>
            </a:prstGeom>
            <a:solidFill>
              <a:srgbClr val="EA3732"/>
            </a:solidFill>
            <a:effectLst>
              <a:outerShdw blurRad="304800" dist="203200" dir="14640000" sx="125000" sy="125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B20451-C569-2639-E342-F579D1CE9DE7}"/>
                </a:ext>
              </a:extLst>
            </p:cNvPr>
            <p:cNvSpPr txBox="1"/>
            <p:nvPr/>
          </p:nvSpPr>
          <p:spPr>
            <a:xfrm>
              <a:off x="3500705" y="5924125"/>
              <a:ext cx="4350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Emerging Talent Team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81EECC7-6B57-7783-35BC-57F4BC9A5FF6}"/>
              </a:ext>
            </a:extLst>
          </p:cNvPr>
          <p:cNvSpPr txBox="1"/>
          <p:nvPr/>
        </p:nvSpPr>
        <p:spPr>
          <a:xfrm>
            <a:off x="1641763" y="1063831"/>
            <a:ext cx="926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</a:t>
            </a:r>
            <a:endParaRPr 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E86AD6-3F06-4DC9-86B5-FD49ECB6349C}"/>
              </a:ext>
            </a:extLst>
          </p:cNvPr>
          <p:cNvSpPr txBox="1"/>
          <p:nvPr/>
        </p:nvSpPr>
        <p:spPr>
          <a:xfrm>
            <a:off x="2438400" y="2471057"/>
            <a:ext cx="85670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Higher education remains out of reach for many refugee youth.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Barriers limit access, not ability.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AI and data science can guide students to opportunity.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Equal access begins with better information.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AFA3CA4-3BF1-E034-679F-29B004D2627D}"/>
              </a:ext>
            </a:extLst>
          </p:cNvPr>
          <p:cNvGrpSpPr/>
          <p:nvPr/>
        </p:nvGrpSpPr>
        <p:grpSpPr>
          <a:xfrm>
            <a:off x="-1" y="0"/>
            <a:ext cx="3283528" cy="6858000"/>
            <a:chOff x="-1" y="0"/>
            <a:chExt cx="3283528" cy="6858000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01CEEF23-3281-FCB8-FD71-FF0123204B22}"/>
                </a:ext>
              </a:extLst>
            </p:cNvPr>
            <p:cNvSpPr/>
            <p:nvPr/>
          </p:nvSpPr>
          <p:spPr>
            <a:xfrm rot="5400000">
              <a:off x="-1787237" y="1787236"/>
              <a:ext cx="6858000" cy="3283528"/>
            </a:xfrm>
            <a:prstGeom prst="triangle">
              <a:avLst>
                <a:gd name="adj" fmla="val 100000"/>
              </a:avLst>
            </a:prstGeom>
            <a:solidFill>
              <a:srgbClr val="EA3732"/>
            </a:solidFill>
            <a:ln>
              <a:solidFill>
                <a:schemeClr val="accent1">
                  <a:shade val="15000"/>
                </a:schemeClr>
              </a:solidFill>
            </a:ln>
            <a:effectLst>
              <a:outerShdw blurRad="850900" dist="723900" dir="3840000" sx="117000" sy="117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9C9F5E9-89E4-5B3D-0123-C0A3B69D3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5476353"/>
              <a:ext cx="2592473" cy="13816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9067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A129-4AA7-0337-8659-C41EA46C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FBBD55-8821-CA98-07DA-9264136A35CE}"/>
              </a:ext>
            </a:extLst>
          </p:cNvPr>
          <p:cNvGrpSpPr/>
          <p:nvPr/>
        </p:nvGrpSpPr>
        <p:grpSpPr>
          <a:xfrm>
            <a:off x="-1" y="5575025"/>
            <a:ext cx="12192001" cy="1282975"/>
            <a:chOff x="-1" y="5575025"/>
            <a:chExt cx="12192001" cy="128297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30D91F-F462-A5E4-FFD8-B60E6DA71928}"/>
                </a:ext>
              </a:extLst>
            </p:cNvPr>
            <p:cNvSpPr/>
            <p:nvPr/>
          </p:nvSpPr>
          <p:spPr>
            <a:xfrm>
              <a:off x="-1" y="5575025"/>
              <a:ext cx="12192001" cy="1282975"/>
            </a:xfrm>
            <a:prstGeom prst="rect">
              <a:avLst/>
            </a:prstGeom>
            <a:solidFill>
              <a:srgbClr val="EA3732"/>
            </a:solidFill>
            <a:effectLst>
              <a:outerShdw blurRad="304800" dist="203200" dir="14640000" sx="125000" sy="125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61D6A5-DABE-3404-36B2-449F1FEC9C4F}"/>
                </a:ext>
              </a:extLst>
            </p:cNvPr>
            <p:cNvSpPr txBox="1"/>
            <p:nvPr/>
          </p:nvSpPr>
          <p:spPr>
            <a:xfrm>
              <a:off x="3500705" y="5924125"/>
              <a:ext cx="4350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Emerging Talent Team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EA0F8E7-9EA2-E583-CD2C-9D2EEB2A018D}"/>
              </a:ext>
            </a:extLst>
          </p:cNvPr>
          <p:cNvSpPr txBox="1"/>
          <p:nvPr/>
        </p:nvSpPr>
        <p:spPr>
          <a:xfrm>
            <a:off x="4612219" y="2773585"/>
            <a:ext cx="40154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F004F2-86EA-0DEB-8D89-605841379562}"/>
              </a:ext>
            </a:extLst>
          </p:cNvPr>
          <p:cNvGrpSpPr/>
          <p:nvPr/>
        </p:nvGrpSpPr>
        <p:grpSpPr>
          <a:xfrm>
            <a:off x="-1" y="0"/>
            <a:ext cx="3283528" cy="6858000"/>
            <a:chOff x="-1" y="0"/>
            <a:chExt cx="3283528" cy="6858000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849DBC47-4DEC-A4FB-A5F3-33200CC1428A}"/>
                </a:ext>
              </a:extLst>
            </p:cNvPr>
            <p:cNvSpPr/>
            <p:nvPr/>
          </p:nvSpPr>
          <p:spPr>
            <a:xfrm rot="5400000">
              <a:off x="-1787237" y="1787236"/>
              <a:ext cx="6858000" cy="3283528"/>
            </a:xfrm>
            <a:prstGeom prst="triangle">
              <a:avLst>
                <a:gd name="adj" fmla="val 100000"/>
              </a:avLst>
            </a:prstGeom>
            <a:solidFill>
              <a:srgbClr val="EA3732"/>
            </a:solidFill>
            <a:ln>
              <a:solidFill>
                <a:schemeClr val="accent1">
                  <a:shade val="15000"/>
                </a:schemeClr>
              </a:solidFill>
            </a:ln>
            <a:effectLst>
              <a:outerShdw blurRad="850900" dist="723900" dir="3840000" sx="117000" sy="117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9428954-5E14-91BC-7864-88A9C5066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5476353"/>
              <a:ext cx="2592473" cy="138164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362C1E-7320-42F0-EC46-EAA4EFA8F5BD}"/>
              </a:ext>
            </a:extLst>
          </p:cNvPr>
          <p:cNvSpPr txBox="1"/>
          <p:nvPr/>
        </p:nvSpPr>
        <p:spPr>
          <a:xfrm>
            <a:off x="1293091" y="709381"/>
            <a:ext cx="99475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access is not only a policy issue — it is a data and technology opportunity.</a:t>
            </a:r>
          </a:p>
        </p:txBody>
      </p:sp>
    </p:spTree>
    <p:extLst>
      <p:ext uri="{BB962C8B-B14F-4D97-AF65-F5344CB8AC3E}">
        <p14:creationId xmlns:p14="http://schemas.microsoft.com/office/powerpoint/2010/main" val="4008838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224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Ziadah</dc:creator>
  <cp:lastModifiedBy>Mohamad Naim Ziadah (Student)</cp:lastModifiedBy>
  <cp:revision>3</cp:revision>
  <dcterms:created xsi:type="dcterms:W3CDTF">2025-12-02T17:59:20Z</dcterms:created>
  <dcterms:modified xsi:type="dcterms:W3CDTF">2026-01-20T10:46:46Z</dcterms:modified>
</cp:coreProperties>
</file>